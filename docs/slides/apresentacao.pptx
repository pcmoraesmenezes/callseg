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4202E"/>
                </a:solidFill>
              </a:rPr>
              <a:t>Segmentação de chamadas de call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C6B7A"/>
                </a:solidFill>
              </a:rPr>
              <a:t>Setor (supervisionado) e subgrupo dentro do setor (sem rótulo)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4202E"/>
                </a:solidFill>
              </a:rPr>
              <a:t>Entra a transcrição completa de uma chamada; saem o setor e o subgrupo.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4202E"/>
                </a:solidFill>
              </a:rPr>
              <a:t>10.121 chamadas distintas em três setores: automotivo, home service e medicare.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4202E"/>
                </a:solidFill>
              </a:rPr>
              <a:t>Caderno de experimentação, API, pipeline de retreino com portão de promoção, painéis e decisões documentadas.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4202E"/>
                </a:solidFill>
              </a:rPr>
              <a:t>O que há nos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C6B7A"/>
                </a:solidFill>
              </a:rPr>
              <a:t>Parte 2 do caderno: tamanho, duração, confiança da transcrição e vocabulário</a:t>
            </a:r>
          </a:p>
        </p:txBody>
      </p:sp>
      <p:pic>
        <p:nvPicPr>
          <p:cNvPr id="4" name="Picture 3" descr="distribuicoes_por_se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47120" cy="38237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4202E"/>
                </a:solidFill>
              </a:rPr>
              <a:t>Risco de vazamento: seis suspeitas, seis testes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C6B7A"/>
                </a:solidFill>
              </a:rPr>
              <a:t>Parte 3 do caderno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Teste</a:t>
                      </a:r>
                    </a:p>
                  </a:txBody>
                  <a:tcPr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F1 macro</a:t>
                      </a:r>
                    </a:p>
                  </a:txBody>
                  <a:tcPr>
                    <a:solidFill>
                      <a:srgbClr val="2A6F9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0. referência (texto completo)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99,35%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1a. divisão por arquivo (cópias soltas)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99,29%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1b. divisão por chamada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99,35%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2. só metadados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71,08%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2b. só confiança da transcrição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64,27%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2c. só duração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42,37%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3. sem marcadores [TAG]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99,32%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4a. só as primeiras 60 palavras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95,41%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4b. só as últimas 60 palavras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81,65%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4c. sem as primeiras 60 palavras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98,37%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5. rótulos embaralhados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33,07%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4202E"/>
                </a:solidFill>
              </a:rPr>
              <a:t>Como o setor foi medido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C6B7A"/>
                </a:solidFill>
              </a:rPr>
              <a:t>Desenvolvimento em validação cruzada de 5 dobras; teste aberto uma única vez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4202E"/>
                </a:solidFill>
              </a:rPr>
              <a:t>Desenvolvimento: 8.094 chamadas; teste: 2.027.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4202E"/>
                </a:solidFill>
              </a:rPr>
              <a:t>Referência na validação cruzada: F1 macro 99,35%.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4202E"/>
                </a:solidFill>
              </a:rPr>
              <a:t>Sobreajuste e subajuste vistos nas curvas de validação e de aprendizado.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4202E"/>
                </a:solidFill>
              </a:rPr>
              <a:t>Cada chamada só aparece de um lado (grupos por texto idêntico).</a:t>
            </a:r>
          </a:p>
        </p:txBody>
      </p:sp>
      <p:pic>
        <p:nvPicPr>
          <p:cNvPr id="5" name="Picture 4" descr="curva_de_aprendizado_s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486400" cy="34656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4202E"/>
                </a:solidFill>
              </a:rPr>
              <a:t>Busca de hiperparâmetros: aleatória contra grade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C6B7A"/>
                </a:solidFill>
              </a:rPr>
              <a:t>Mesmo orçamento de combinações; depois, a busca ampla em cinco famílias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594360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188720"/>
                <a:gridCol w="1188720"/>
                <a:gridCol w="100584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Método</a:t>
                      </a:r>
                    </a:p>
                  </a:txBody>
                  <a:tcPr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Combinações</a:t>
                      </a:r>
                    </a:p>
                  </a:txBody>
                  <a:tcPr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Melhor F1</a:t>
                      </a:r>
                    </a:p>
                  </a:txBody>
                  <a:tcPr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Minutos</a:t>
                      </a:r>
                    </a:p>
                  </a:txBody>
                  <a:tcPr>
                    <a:solidFill>
                      <a:srgbClr val="2A6F9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Grade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99,38%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2,2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Aleatória (mesmo orçamento)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99,30%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3,7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busca_grade_contra_aleat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37360"/>
            <a:ext cx="5212080" cy="20176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4202E"/>
                </a:solidFill>
              </a:rPr>
              <a:t>Modelos pré-treinados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C6B7A"/>
                </a:solidFill>
              </a:rPr>
              <a:t>Embeddings congelados e ajuste fino de um BERT reduzido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202E"/>
                </a:solidFill>
              </a:rPr>
              <a:t>MiniLM congelado e regressão logística, validação cruzada: F1 macro 97,20%.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202E"/>
                </a:solidFill>
              </a:rPr>
              <a:t>DistilBERT ajustado (1 época, 128 tokens, CPU), primeira dobra: 94,75%; o SVM na mesma dobra: 99,08%.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202E"/>
                </a:solidFill>
              </a:rPr>
              <a:t>O ajuste fino foi feito com orçamento pequeno de CPU: mede o que cabe nesse orçamento, não o teto do BERT.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4202E"/>
                </a:solidFill>
              </a:rPr>
              <a:t>Resultado no teste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C6B7A"/>
                </a:solidFill>
              </a:rPr>
              <a:t>2.027 chamadas nunca usadas para escolher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658368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371600"/>
                <a:gridCol w="118872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F1 macro</a:t>
                      </a:r>
                    </a:p>
                  </a:txBody>
                  <a:tcPr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Erros</a:t>
                      </a:r>
                    </a:p>
                  </a:txBody>
                  <a:tcPr>
                    <a:solidFill>
                      <a:srgbClr val="2A6F9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melhor da busca aleatória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99,31%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SVM linear calibrado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99,21%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regressão logística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99,15%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combinação (pesos iguais)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99,15%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Naive Bayes complementar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98,42%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MiniLM + regressão logística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97,66%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DistilBERT com ajuste fino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96,43%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02E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matriz_de_confu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4663440" cy="20336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52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5C6B7A"/>
                </a:solidFill>
              </a:rPr>
              <a:t>SVM linear calibrado: IC 95% do F1 macro de 98,83% a 99,56%.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4202E"/>
                </a:solidFill>
              </a:rPr>
              <a:t>O que pesa na decisão e quanto da chamada basta</a:t>
            </a:r>
          </a:p>
        </p:txBody>
      </p:sp>
      <p:pic>
        <p:nvPicPr>
          <p:cNvPr id="3" name="Picture 2" descr="termos_que_pes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766560" cy="2275454"/>
          </a:xfrm>
          <a:prstGeom prst="rect">
            <a:avLst/>
          </a:prstGeom>
        </p:spPr>
      </p:pic>
      <p:pic>
        <p:nvPicPr>
          <p:cNvPr id="4" name="Picture 3" descr="palavras_necessar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463040"/>
            <a:ext cx="4572000" cy="28880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4202E"/>
                </a:solidFill>
              </a:rPr>
              <a:t>Subgrupos: quantos e por quê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C6B7A"/>
                </a:solidFill>
              </a:rPr>
              <a:t>Silhueta, estabilidade e tamanho do menor grupo</a:t>
            </a:r>
          </a:p>
        </p:txBody>
      </p:sp>
      <p:pic>
        <p:nvPicPr>
          <p:cNvPr id="4" name="Picture 3" descr="escolha_de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47120" cy="34316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4202E"/>
                </a:solidFill>
              </a:rPr>
              <a:t>Subgrupos: o mapa e a validação por temas</a:t>
            </a:r>
          </a:p>
        </p:txBody>
      </p:sp>
      <p:pic>
        <p:nvPicPr>
          <p:cNvPr id="3" name="Picture 2" descr="mapa_umap_subgru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9417262" cy="5394960"/>
          </a:xfrm>
          <a:prstGeom prst="rect">
            <a:avLst/>
          </a:prstGeom>
        </p:spPr>
      </p:pic>
      <p:pic>
        <p:nvPicPr>
          <p:cNvPr id="4" name="Picture 3" descr="validacao_por_tem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463040"/>
            <a:ext cx="5943600" cy="22766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4202E"/>
                </a:solidFill>
              </a:rPr>
              <a:t>Arquitetura: pipeline de modelagem</a:t>
            </a:r>
          </a:p>
        </p:txBody>
      </p:sp>
      <p:pic>
        <p:nvPicPr>
          <p:cNvPr id="3" name="Picture 2" descr="pipeline-de-modelag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953833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4202E"/>
                </a:solidFill>
              </a:rPr>
              <a:t>Arquitetura: plataforma</a:t>
            </a:r>
          </a:p>
        </p:txBody>
      </p:sp>
      <p:pic>
        <p:nvPicPr>
          <p:cNvPr id="3" name="Picture 2" descr="platafo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968343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4202E"/>
                </a:solidFill>
              </a:rPr>
              <a:t>Dados em camadas e ciclo de vida do modelo</a:t>
            </a:r>
          </a:p>
        </p:txBody>
      </p:sp>
      <p:pic>
        <p:nvPicPr>
          <p:cNvPr id="3" name="Picture 2" descr="dados-em-cama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852160" cy="2808418"/>
          </a:xfrm>
          <a:prstGeom prst="rect">
            <a:avLst/>
          </a:prstGeom>
        </p:spPr>
      </p:pic>
      <p:pic>
        <p:nvPicPr>
          <p:cNvPr id="4" name="Picture 3" descr="ciclo-de-vida-do-mode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76072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4202E"/>
                </a:solidFill>
              </a:rPr>
              <a:t>Decisões, limites e 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4202E"/>
                </a:solidFill>
              </a:rPr>
              <a:t>Decisões documentadas em 13 ADRs: representação, subgrupos, nomes por âncora, privacidade, estilo de arquitetura, deriva, Airflow, dados em camadas, MLflow, exposição, backend, portão de promoção e Kubernetes.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4202E"/>
                </a:solidFill>
              </a:rPr>
              <a:t>Limites: subgrupos sem gabarito humano; atalho de metadados medido; modelo pré-treinado avaliado com orçamento pequeno.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4202E"/>
                </a:solidFill>
              </a:rPr>
              <a:t>Próximos passos: amostra rotulada por pessoas para os subgrupos, BERT com GPU, deriva por vocabulário, rótulo de qualidade por atendente quando houver falante separado.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